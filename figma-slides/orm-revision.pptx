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190"/>
                </a:solidFill>
              </a:rPr>
              <a:t>ORM · fiche de révision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TP NOTÉ · RÉVISIONS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 classe ORM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Ce qu'il faut savoir refaire sans la correction</a:t>
            </a:r>
            <a:endParaRPr lang="en-US" sz="1800" dirty="0"/>
          </a:p>
        </p:txBody>
      </p:sp>
      <p:sp>
        <p:nvSpPr>
          <p:cNvPr id="5" name="tag"/>
          <p:cNvSpPr/>
          <p:nvPr/>
        </p:nvSpPr>
        <p:spPr>
          <a:xfrm>
            <a:off x="548640" y="3886200"/>
            <a:ext cx="128473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86200"/>
            <a:ext cx="1284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Transaction</a:t>
            </a:r>
            <a:endParaRPr lang="en-US" sz="1200" dirty="0"/>
          </a:p>
        </p:txBody>
      </p:sp>
      <p:sp>
        <p:nvSpPr>
          <p:cNvPr id="7" name="tag"/>
          <p:cNvSpPr/>
          <p:nvPr/>
        </p:nvSpPr>
        <p:spPr>
          <a:xfrm>
            <a:off x="1970532" y="3886200"/>
            <a:ext cx="128473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0532" y="3886200"/>
            <a:ext cx="1284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createTable</a:t>
            </a:r>
            <a:endParaRPr lang="en-US" sz="1200" dirty="0"/>
          </a:p>
        </p:txBody>
      </p:sp>
      <p:sp>
        <p:nvSpPr>
          <p:cNvPr id="9" name="tag"/>
          <p:cNvSpPr/>
          <p:nvPr/>
        </p:nvSpPr>
        <p:spPr>
          <a:xfrm>
            <a:off x="3392424" y="3886200"/>
            <a:ext cx="7086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2424" y="3886200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Proxy</a:t>
            </a:r>
            <a:endParaRPr lang="en-US" sz="1200" dirty="0"/>
          </a:p>
        </p:txBody>
      </p:sp>
      <p:sp>
        <p:nvSpPr>
          <p:cNvPr id="11" name="tag"/>
          <p:cNvSpPr/>
          <p:nvPr/>
        </p:nvSpPr>
        <p:spPr>
          <a:xfrm>
            <a:off x="4238244" y="3886200"/>
            <a:ext cx="109270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38244" y="3886200"/>
            <a:ext cx="1092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ResultSet</a:t>
            </a:r>
            <a:endParaRPr lang="en-US" sz="1200" dirty="0"/>
          </a:p>
        </p:txBody>
      </p:sp>
      <p:sp>
        <p:nvSpPr>
          <p:cNvPr id="13" name="tag"/>
          <p:cNvSpPr/>
          <p:nvPr/>
        </p:nvSpPr>
        <p:spPr>
          <a:xfrm>
            <a:off x="5468112" y="38862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68112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Exceptions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Transaction et ThreadLocal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457200" y="11704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dataSource.getConnection()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89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</a:rPr>
              <a:t>dans un try-with-resources</a:t>
            </a:r>
            <a:endParaRPr lang="en-US" sz="1300" dirty="0"/>
          </a:p>
        </p:txBody>
      </p:sp>
      <p:sp>
        <p:nvSpPr>
          <p:cNvPr id="7" name="badge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01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setAutoCommit(false)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93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</a:rPr>
              <a:t>sinon chaque requête est validée seule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457200" y="2578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5054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THREAD_LOCAL.set(connection)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</a:rPr>
              <a:t>rend la connexion visible au repository</a:t>
            </a:r>
            <a:endParaRPr lang="en-US" sz="1300" dirty="0"/>
          </a:p>
        </p:txBody>
      </p:sp>
      <p:sp>
        <p:nvSpPr>
          <p:cNvPr id="15" name="badge"/>
          <p:cNvSpPr/>
          <p:nvPr/>
        </p:nvSpPr>
        <p:spPr>
          <a:xfrm>
            <a:off x="457200" y="32826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2095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block.run() puis commit()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502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</a:rPr>
              <a:t>tout s'est bien passé</a:t>
            </a:r>
            <a:endParaRPr lang="en-US" sz="1300" dirty="0"/>
          </a:p>
        </p:txBody>
      </p:sp>
      <p:sp>
        <p:nvSpPr>
          <p:cNvPr id="19" name="badge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9136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→ rollback() + relancer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</a:rPr>
              <a:t>finally → THREAD_LOCAL.remove()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5394960" y="109728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555955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5955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053328" y="124358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Pourquoi un ThreadLocal 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17556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Les méthodes du repository n'ont pas de paramètre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: elles la retrouvent via le thread courant.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5394960" y="288036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5559552" y="30449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5955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53328" y="30266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currentConnection()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35387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Renvoie la connexion du thread. Hors transaction, elle vaut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→ lever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IllegalStateException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createTable : du bean au CREATE TABLE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457200" y="10972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94360" y="11887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@Table("person")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@Id @GeneratedValue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Long getId()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@Column("NAME")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getName() {...}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arrow"/>
          <p:cNvSpPr/>
          <p:nvPr/>
        </p:nvSpPr>
        <p:spPr>
          <a:xfrm>
            <a:off x="4315968" y="1874520"/>
            <a:ext cx="4114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code-bg"/>
          <p:cNvSpPr/>
          <p:nvPr/>
        </p:nvSpPr>
        <p:spPr>
          <a:xfrm>
            <a:off x="4846320" y="10972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4983480" y="11887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PERSON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BIGINT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VARCHAR(255)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0896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Table 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sinon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getSimpleName()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, en majuscules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Colonne 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sur le getter, sinon le nom de la propriété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Type 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TYPE_MAPPING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; type primitif →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Clés 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→ PRIMARY KEY,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→ AUTO_INCREMENT</a:t>
            </a:r>
            <a:endParaRPr lang="en-US" sz="1300" dirty="0"/>
          </a:p>
        </p:txBody>
      </p:sp>
      <p:sp>
        <p:nvSpPr>
          <p:cNvPr id="9" name="warn"/>
          <p:cNvSpPr/>
          <p:nvPr/>
        </p:nvSpPr>
        <p:spPr>
          <a:xfrm>
            <a:off x="6492240" y="3154680"/>
            <a:ext cx="2194560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324612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Piège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Filtrer la propriété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venant de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getClass()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 repository est un proxy dynamique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457200" y="109728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94360" y="1188720"/>
            <a:ext cx="4297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Proxy.newProxyInstance(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type.getClassLoader(),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Class&lt;?&gt;[] { type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(proxy, method, args) -&gt;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(method.getDeclaringClass()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== Object.class)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UnsupportedOperation…();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connection = currentConnection();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switch (method.getName())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case "findAll" -&gt; …;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 -&gt; throw 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IllegalStateException();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257800" y="1097280"/>
            <a:ext cx="34290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542239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223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16168" y="124358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Retrouver le bean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7556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getGenericInterfaces()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→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ParameterizedType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getActualTypeArguments()[0]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257800" y="2880360"/>
            <a:ext cx="342900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5422392" y="30449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2239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16168" y="302666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Règles du switch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5387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equals/hashCode/toString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→ UnsupportedOperation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méthode inconnue →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IllegalState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Lire un ResultSet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39776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2179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4358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toEntityClass : une ligne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55648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Lit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la ligne courante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: ne jamais appeler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Utils.newInstance(constructor)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pour chaque propriété (sauf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) : setter ←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getObject(nomColonne)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709160" y="1097280"/>
            <a:ext cx="397764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87375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67528" y="124358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findAll : toutes les lignes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755648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prepareStatement(sql)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executeQuery()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 sans argument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(rs.next())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→ ajouter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toEntityClass(...)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try-with-resources sur les deux</a:t>
            </a:r>
            <a:endParaRPr lang="en-US" sz="1300" dirty="0"/>
          </a:p>
        </p:txBody>
      </p:sp>
      <p:sp>
        <p:nvSpPr>
          <p:cNvPr id="13" name="tip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JDBC 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les colonnes et les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commencent à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. Sur un PreparedStatement,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executeQuery(sql)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est interdit (exception H2).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Faire remonter une SQLException</a:t>
            </a:r>
            <a:endParaRPr lang="en-US" sz="2800" dirty="0"/>
          </a:p>
        </p:txBody>
      </p:sp>
      <p:sp>
        <p:nvSpPr>
          <p:cNvPr id="3" name="step"/>
          <p:cNvSpPr/>
          <p:nvPr/>
        </p:nvSpPr>
        <p:spPr>
          <a:xfrm>
            <a:off x="457200" y="1280160"/>
            <a:ext cx="17830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findAll(...)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lève SQLException (checked)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295144" y="1920240"/>
            <a:ext cx="25603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tep"/>
          <p:cNvSpPr/>
          <p:nvPr/>
        </p:nvSpPr>
        <p:spPr>
          <a:xfrm>
            <a:off x="2606040" y="1280160"/>
            <a:ext cx="17830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137160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82880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catch → throw new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UncheckedSQLException(e)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4443984" y="1920240"/>
            <a:ext cx="25603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"/>
          <p:cNvSpPr/>
          <p:nvPr/>
        </p:nvSpPr>
        <p:spPr>
          <a:xfrm>
            <a:off x="4754880" y="1280160"/>
            <a:ext cx="17830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137160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182880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catch → rollback()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throw e.getCause()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6592824" y="1920240"/>
            <a:ext cx="25603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"/>
          <p:cNvSpPr/>
          <p:nvPr/>
        </p:nvSpPr>
        <p:spPr>
          <a:xfrm>
            <a:off x="6903720" y="1280160"/>
            <a:ext cx="1783080" cy="1554480"/>
          </a:xfrm>
          <a:prstGeom prst="roundRect">
            <a:avLst>
              <a:gd name="adj" fmla="val 58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13448" y="137160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Appelant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13448" y="182880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reçoit une SQLException</a:t>
            </a:r>
            <a:endParaRPr lang="en-US" sz="1200" dirty="0"/>
          </a:p>
        </p:txBody>
      </p:sp>
      <p:sp>
        <p:nvSpPr>
          <p:cNvPr id="18" name="why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46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Pourquoi ?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Repository.findAll()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ne déclare pas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 SQLException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Sans emballage, le proxy transforme l'exception en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UndeclaredThrowableException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, et le test échoue.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Check-list avant le TP</a:t>
            </a:r>
            <a:endParaRPr lang="en-US" sz="2800" dirty="0"/>
          </a:p>
        </p:txBody>
      </p:sp>
      <p:sp>
        <p:nvSpPr>
          <p:cNvPr id="3" name="check"/>
          <p:cNvSpPr/>
          <p:nvPr/>
        </p:nvSpPr>
        <p:spPr>
          <a:xfrm>
            <a:off x="457200" y="1152144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0972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remove() du ThreadLocal dans finally</a:t>
            </a:r>
            <a:endParaRPr lang="en-US" sz="1300" dirty="0"/>
          </a:p>
        </p:txBody>
      </p:sp>
      <p:sp>
        <p:nvSpPr>
          <p:cNvPr id="6" name="check"/>
          <p:cNvSpPr/>
          <p:nvPr/>
        </p:nvSpPr>
        <p:spPr>
          <a:xfrm>
            <a:off x="457200" y="1581912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5270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rollback() sur toute erreur</a:t>
            </a:r>
            <a:endParaRPr lang="en-US" sz="1300" dirty="0"/>
          </a:p>
        </p:txBody>
      </p:sp>
      <p:sp>
        <p:nvSpPr>
          <p:cNvPr id="9" name="check"/>
          <p:cNvSpPr/>
          <p:nvPr/>
        </p:nvSpPr>
        <p:spPr>
          <a:xfrm>
            <a:off x="457200" y="2011680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195681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Filtrer la propriété class</a:t>
            </a:r>
            <a:endParaRPr lang="en-US" sz="1300" dirty="0"/>
          </a:p>
        </p:txBody>
      </p:sp>
      <p:sp>
        <p:nvSpPr>
          <p:cNvPr id="12" name="check"/>
          <p:cNvSpPr/>
          <p:nvPr/>
        </p:nvSpPr>
        <p:spPr>
          <a:xfrm>
            <a:off x="457200" y="24414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86584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Pas de next() dans toEntityClass</a:t>
            </a:r>
            <a:endParaRPr lang="en-US" sz="1300" dirty="0"/>
          </a:p>
        </p:txBody>
      </p:sp>
      <p:sp>
        <p:nvSpPr>
          <p:cNvPr id="15" name="check"/>
          <p:cNvSpPr/>
          <p:nvPr/>
        </p:nvSpPr>
        <p:spPr>
          <a:xfrm>
            <a:off x="457200" y="2871216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81635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executeQuery() sans argument</a:t>
            </a:r>
            <a:endParaRPr lang="en-US" sz="1300" dirty="0"/>
          </a:p>
        </p:txBody>
      </p:sp>
      <p:sp>
        <p:nvSpPr>
          <p:cNvPr id="18" name="check"/>
          <p:cNvSpPr/>
          <p:nvPr/>
        </p:nvSpPr>
        <p:spPr>
          <a:xfrm>
            <a:off x="457200" y="3300984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24612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Index JDBC à partir de 1</a:t>
            </a:r>
            <a:endParaRPr lang="en-US" sz="1300" dirty="0"/>
          </a:p>
        </p:txBody>
      </p:sp>
      <p:sp>
        <p:nvSpPr>
          <p:cNvPr id="21" name="check"/>
          <p:cNvSpPr/>
          <p:nvPr/>
        </p:nvSpPr>
        <p:spPr>
          <a:xfrm>
            <a:off x="457200" y="3730752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6758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SQLException → Unchecked → getCause()</a:t>
            </a:r>
            <a:endParaRPr lang="en-US" sz="1300" dirty="0"/>
          </a:p>
        </p:txBody>
      </p:sp>
      <p:sp>
        <p:nvSpPr>
          <p:cNvPr id="24" name="next"/>
          <p:cNvSpPr/>
          <p:nvPr/>
        </p:nvSpPr>
        <p:spPr>
          <a:xfrm>
            <a:off x="4937760" y="1097280"/>
            <a:ext cx="37490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1234440"/>
            <a:ext cx="3291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Pour la suite (Q8+)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save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INSERT avec des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puis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setObject(i + 1, v)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@GeneratedValue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getGeneratedKeys()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pour relire l'id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mise à jour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au lieu d'INSERT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findById 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réutiliser findAll avec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M Revision">
  <a:themeElements>
    <a:clrScheme name="ORM Revision">
      <a:dk1>
        <a:srgbClr val="1C2426"/>
      </a:dk1>
      <a:lt1>
        <a:srgbClr val="FFFFFF"/>
      </a:lt1>
      <a:dk2>
        <a:srgbClr val="0E3B43"/>
      </a:dk2>
      <a:lt2>
        <a:srgbClr val="E8F1F2"/>
      </a:lt2>
      <a:accent1>
        <a:srgbClr val="E9893A"/>
      </a:accent1>
      <a:accent2>
        <a:srgbClr val="2A9D8F"/>
      </a:accent2>
      <a:accent3>
        <a:srgbClr val="264653"/>
      </a:accent3>
      <a:accent4>
        <a:srgbClr val="F4A261"/>
      </a:accent4>
      <a:accent5>
        <a:srgbClr val="8AB17D"/>
      </a:accent5>
      <a:accent6>
        <a:srgbClr val="E76F51"/>
      </a:accent6>
      <a:hlink>
        <a:srgbClr val="2A9D8F"/>
      </a:hlink>
      <a:folHlink>
        <a:srgbClr val="264653"/>
      </a:folHlink>
    </a:clrScheme>
    <a:fontScheme name="ORM Re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ORM · fiche de révision</dc:title>
  <dc:subject>PptxGenJS Presentation</dc:subject>
  <dc:creator>PptxGenJS</dc:creator>
  <cp:lastModifiedBy>PptxGenJS</cp:lastModifiedBy>
  <cp:revision>1</cp:revision>
  <dcterms:created xsi:type="dcterms:W3CDTF">2026-10-09T19:01:27Z</dcterms:created>
  <dcterms:modified xsi:type="dcterms:W3CDTF">2026-10-09T19:01:27Z</dcterms:modified>
</cp:coreProperties>
</file>