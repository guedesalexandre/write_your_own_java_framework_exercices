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190"/>
                </a:solidFill>
              </a:rPr>
              <a:t>InterceptorRegistry · fiche de révision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TP NOTÉ · RÉVISIONS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 classe InterceptorRegistry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Advices, intercepteurs, chaîne d'invocations et cache</a:t>
            </a:r>
            <a:endParaRPr lang="en-US" sz="1800" dirty="0"/>
          </a:p>
        </p:txBody>
      </p:sp>
      <p:sp>
        <p:nvSpPr>
          <p:cNvPr id="5" name="tag"/>
          <p:cNvSpPr/>
          <p:nvPr/>
        </p:nvSpPr>
        <p:spPr>
          <a:xfrm>
            <a:off x="548640" y="3886200"/>
            <a:ext cx="80467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8862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Advice</a:t>
            </a:r>
            <a:endParaRPr lang="en-US" sz="1200" dirty="0"/>
          </a:p>
        </p:txBody>
      </p:sp>
      <p:sp>
        <p:nvSpPr>
          <p:cNvPr id="7" name="tag"/>
          <p:cNvSpPr/>
          <p:nvPr/>
        </p:nvSpPr>
        <p:spPr>
          <a:xfrm>
            <a:off x="1490472" y="3886200"/>
            <a:ext cx="128473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90472" y="3886200"/>
            <a:ext cx="1284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Interceptor</a:t>
            </a:r>
            <a:endParaRPr lang="en-US" sz="1200" dirty="0"/>
          </a:p>
        </p:txBody>
      </p:sp>
      <p:sp>
        <p:nvSpPr>
          <p:cNvPr id="9" name="tag"/>
          <p:cNvSpPr/>
          <p:nvPr/>
        </p:nvSpPr>
        <p:spPr>
          <a:xfrm>
            <a:off x="2912364" y="388620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12364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Invocation</a:t>
            </a:r>
            <a:endParaRPr lang="en-US" sz="1200" dirty="0"/>
          </a:p>
        </p:txBody>
      </p:sp>
      <p:sp>
        <p:nvSpPr>
          <p:cNvPr id="11" name="tag"/>
          <p:cNvSpPr/>
          <p:nvPr/>
        </p:nvSpPr>
        <p:spPr>
          <a:xfrm>
            <a:off x="4238244" y="3886200"/>
            <a:ext cx="7086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38244" y="3886200"/>
            <a:ext cx="70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Proxy</a:t>
            </a:r>
            <a:endParaRPr lang="en-US" sz="1200" dirty="0"/>
          </a:p>
        </p:txBody>
      </p:sp>
      <p:sp>
        <p:nvSpPr>
          <p:cNvPr id="13" name="tag"/>
          <p:cNvSpPr/>
          <p:nvPr/>
        </p:nvSpPr>
        <p:spPr>
          <a:xfrm>
            <a:off x="5084064" y="3886200"/>
            <a:ext cx="7086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84064" y="3886200"/>
            <a:ext cx="70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Cache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Trois interfaces à connaître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06040" cy="27432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21792" y="12618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4358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AroundAdvice</a:t>
            </a:r>
            <a:endParaRPr lang="en-US" sz="1600" dirty="0"/>
          </a:p>
        </p:txBody>
      </p:sp>
      <p:sp>
        <p:nvSpPr>
          <p:cNvPr id="7" name="code-bg"/>
          <p:cNvSpPr/>
          <p:nvPr/>
        </p:nvSpPr>
        <p:spPr>
          <a:xfrm>
            <a:off x="594360" y="1810512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731520" y="190195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before(instance, method, args)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after(instance, method, args,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result)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Code avant / après l'appel. Ne contrôle pas l'appel.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268980" y="1097280"/>
            <a:ext cx="2606040" cy="27432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"/>
          <p:cNvSpPr/>
          <p:nvPr/>
        </p:nvSpPr>
        <p:spPr>
          <a:xfrm>
            <a:off x="3433572" y="12618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3357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27348" y="124358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Interceptor</a:t>
            </a:r>
            <a:endParaRPr lang="en-US" sz="1600" dirty="0"/>
          </a:p>
        </p:txBody>
      </p:sp>
      <p:sp>
        <p:nvSpPr>
          <p:cNvPr id="14" name="code-bg"/>
          <p:cNvSpPr/>
          <p:nvPr/>
        </p:nvSpPr>
        <p:spPr>
          <a:xfrm>
            <a:off x="3406140" y="1810512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5" name="code"/>
          <p:cNvSpPr txBox="1"/>
          <p:nvPr/>
        </p:nvSpPr>
        <p:spPr>
          <a:xfrm>
            <a:off x="3543300" y="190195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intercept(instance, method,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args, invocation)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51860" y="27889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Décide d'appeler (ou non) la suite via invocation.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6080760" y="1097280"/>
            <a:ext cx="2606040" cy="274320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"/>
          <p:cNvSpPr/>
          <p:nvPr/>
        </p:nvSpPr>
        <p:spPr>
          <a:xfrm>
            <a:off x="6245352" y="12618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4535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39128" y="124358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Invocation</a:t>
            </a:r>
            <a:endParaRPr lang="en-US" sz="1600" dirty="0"/>
          </a:p>
        </p:txBody>
      </p:sp>
      <p:sp>
        <p:nvSpPr>
          <p:cNvPr id="21" name="code-bg"/>
          <p:cNvSpPr/>
          <p:nvPr/>
        </p:nvSpPr>
        <p:spPr>
          <a:xfrm>
            <a:off x="6217920" y="1810512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22" name="code"/>
          <p:cNvSpPr txBox="1"/>
          <p:nvPr/>
        </p:nvSpPr>
        <p:spPr>
          <a:xfrm>
            <a:off x="6355080" y="190195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proceed(instance, method,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args)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27889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La suite de la chaîne » : prochain intercepteur ou vraie méthode.</a:t>
            </a:r>
            <a:endParaRPr lang="en-US" sz="1300" dirty="0"/>
          </a:p>
        </p:txBody>
      </p:sp>
      <p:sp>
        <p:nvSpPr>
          <p:cNvPr id="24" name="t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À retenir 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 AroundAdvice n'est qu'un cas particulier d'Interceptor (Q5).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Stocker les intercepteurs par annotation</a:t>
            </a:r>
            <a:endParaRPr lang="en-US" sz="2800" dirty="0"/>
          </a:p>
        </p:txBody>
      </p:sp>
      <p:sp>
        <p:nvSpPr>
          <p:cNvPr id="3" name="code-bg"/>
          <p:cNvSpPr/>
          <p:nvPr/>
        </p:nvSpPr>
        <p:spPr>
          <a:xfrm>
            <a:off x="457200" y="109728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594360" y="118872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Map&lt;Class&lt;? extends Annotation&gt;,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List&lt;Interceptor&gt;&gt; map = new HashMap&lt;&gt;();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addInterceptor(annotation, interceptor)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map.computeIfAbsent(annotation,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 -&gt; new ArrayList&lt;&gt;()).add(interceptor);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cache.clear();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addAroundAdvice(annotation, advice)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addInterceptor(annotation,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(instance, method, args, invocation)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advice.before(instance, method, args);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var res = invocation.proceed(...);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advice.after(instance, method, args, res);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5806440" y="1097280"/>
            <a:ext cx="288036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"/>
          <p:cNvSpPr/>
          <p:nvPr/>
        </p:nvSpPr>
        <p:spPr>
          <a:xfrm>
            <a:off x="5971032" y="12618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7103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64808" y="124358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Ordre conservé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7556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Une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par annotation : les intercepteurs sont appelés dans l'ordre d'ajout.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5806440" y="2880360"/>
            <a:ext cx="2880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"/>
          <p:cNvSpPr/>
          <p:nvPr/>
        </p:nvSpPr>
        <p:spPr>
          <a:xfrm>
            <a:off x="5971032" y="30449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71032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302666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Advice → Interceptor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5387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before, puis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proceed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, puis after avec le résultat, qu'on renvoie.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findInterceptors : où chercher les annotations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097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Interface</a:t>
            </a:r>
            <a:endParaRPr lang="en-US" sz="1500" dirty="0"/>
          </a:p>
        </p:txBody>
      </p:sp>
      <p:sp>
        <p:nvSpPr>
          <p:cNvPr id="6" name="code-bg"/>
          <p:cNvSpPr/>
          <p:nvPr/>
        </p:nvSpPr>
        <p:spPr>
          <a:xfrm>
            <a:off x="2377440" y="10972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2514600" y="11887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method.getDeclaringClass()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.getAnnotations()</a:t>
            </a:r>
            <a:endParaRPr lang="en-US" sz="1000" dirty="0"/>
          </a:p>
        </p:txBody>
      </p:sp>
      <p:sp>
        <p:nvSpPr>
          <p:cNvPr id="8" name="badge"/>
          <p:cNvSpPr/>
          <p:nvPr/>
        </p:nvSpPr>
        <p:spPr>
          <a:xfrm>
            <a:off x="457200" y="20756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Méthode</a:t>
            </a:r>
            <a:endParaRPr lang="en-US" sz="1500" dirty="0"/>
          </a:p>
        </p:txBody>
      </p:sp>
      <p:sp>
        <p:nvSpPr>
          <p:cNvPr id="11" name="code-bg"/>
          <p:cNvSpPr/>
          <p:nvPr/>
        </p:nvSpPr>
        <p:spPr>
          <a:xfrm>
            <a:off x="2377440" y="2029968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code"/>
          <p:cNvSpPr txBox="1"/>
          <p:nvPr/>
        </p:nvSpPr>
        <p:spPr>
          <a:xfrm>
            <a:off x="2514600" y="21214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method.getAnnotations()</a:t>
            </a:r>
            <a:endParaRPr lang="en-US" sz="1000" dirty="0"/>
          </a:p>
        </p:txBody>
      </p:sp>
      <p:sp>
        <p:nvSpPr>
          <p:cNvPr id="13" name="badge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9626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Paramètres</a:t>
            </a:r>
            <a:endParaRPr lang="en-US" sz="1500" dirty="0"/>
          </a:p>
        </p:txBody>
      </p:sp>
      <p:sp>
        <p:nvSpPr>
          <p:cNvPr id="16" name="code-bg"/>
          <p:cNvSpPr/>
          <p:nvPr/>
        </p:nvSpPr>
        <p:spPr>
          <a:xfrm>
            <a:off x="2377440" y="2962656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7" name="code"/>
          <p:cNvSpPr txBox="1"/>
          <p:nvPr/>
        </p:nvSpPr>
        <p:spPr>
          <a:xfrm>
            <a:off x="2514600" y="305409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method.getParameterAnnotations()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Annotation[][] → flatMap</a:t>
            </a:r>
            <a:endParaRPr lang="en-US" sz="1000" dirty="0"/>
          </a:p>
        </p:txBody>
      </p:sp>
      <p:sp>
        <p:nvSpPr>
          <p:cNvPr id="18" name="arrow"/>
          <p:cNvSpPr/>
          <p:nvPr/>
        </p:nvSpPr>
        <p:spPr>
          <a:xfrm>
            <a:off x="5760720" y="2148840"/>
            <a:ext cx="36576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lookup"/>
          <p:cNvSpPr/>
          <p:nvPr/>
        </p:nvSpPr>
        <p:spPr>
          <a:xfrm>
            <a:off x="6217920" y="1097280"/>
            <a:ext cx="2468880" cy="26060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23444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Pour chaque annotation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map.getOrDefault(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a.annotationType(),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List.of())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puis aplatir en une seule liste.</a:t>
            </a:r>
            <a:endParaRPr lang="en-US" sz="1300" dirty="0"/>
          </a:p>
        </p:txBody>
      </p:sp>
      <p:sp>
        <p:nvSpPr>
          <p:cNvPr id="21" name="warn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Piège 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annotationType()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, pas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getClass()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: une instance d'annotation est elle-même un proxy.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getInvocation : chaîner à l'envers</a:t>
            </a:r>
            <a:endParaRPr lang="en-US" sz="2800" dirty="0"/>
          </a:p>
        </p:txBody>
      </p:sp>
      <p:sp>
        <p:nvSpPr>
          <p:cNvPr id="3" name="node"/>
          <p:cNvSpPr/>
          <p:nvPr/>
        </p:nvSpPr>
        <p:spPr>
          <a:xfrm>
            <a:off x="457200" y="1143000"/>
            <a:ext cx="12344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1755648" y="1353312"/>
            <a:ext cx="4114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node"/>
          <p:cNvSpPr/>
          <p:nvPr/>
        </p:nvSpPr>
        <p:spPr>
          <a:xfrm>
            <a:off x="2240280" y="1143000"/>
            <a:ext cx="12344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40280" y="11430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3538728" y="1353312"/>
            <a:ext cx="4114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node"/>
          <p:cNvSpPr/>
          <p:nvPr/>
        </p:nvSpPr>
        <p:spPr>
          <a:xfrm>
            <a:off x="4023360" y="1143000"/>
            <a:ext cx="12344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1430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I3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5321808" y="1353312"/>
            <a:ext cx="41148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ode"/>
          <p:cNvSpPr/>
          <p:nvPr/>
        </p:nvSpPr>
        <p:spPr>
          <a:xfrm>
            <a:off x="5806440" y="1143000"/>
            <a:ext cx="192024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invokeMethod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0"/>
                </a:solidFill>
              </a:rPr>
              <a:t>appel → I1 → I2 → I3 → vraie méthode   ·   construction : de la fin vers le début</a:t>
            </a:r>
            <a:endParaRPr lang="en-US" sz="1200" dirty="0"/>
          </a:p>
        </p:txBody>
      </p:sp>
      <p:sp>
        <p:nvSpPr>
          <p:cNvPr id="15" name="code-bg"/>
          <p:cNvSpPr/>
          <p:nvPr/>
        </p:nvSpPr>
        <p:spPr>
          <a:xfrm>
            <a:off x="457200" y="237744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6" name="code"/>
          <p:cNvSpPr txBox="1"/>
          <p:nvPr/>
        </p:nvSpPr>
        <p:spPr>
          <a:xfrm>
            <a:off x="594360" y="24688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Invocation invocation = Utils::invokeMethod;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(var interceptor : interceptors.reversed())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next = invocation;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invocation = (instance, method, args) -&gt;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interceptor.intercept(instance, method,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args, next);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invocation;</a:t>
            </a:r>
            <a:endParaRPr lang="en-US" sz="1000" dirty="0"/>
          </a:p>
        </p:txBody>
      </p:sp>
      <p:sp>
        <p:nvSpPr>
          <p:cNvPr id="17" name="card"/>
          <p:cNvSpPr/>
          <p:nvPr/>
        </p:nvSpPr>
        <p:spPr>
          <a:xfrm>
            <a:off x="5577840" y="2377440"/>
            <a:ext cx="31089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"/>
          <p:cNvSpPr/>
          <p:nvPr/>
        </p:nvSpPr>
        <p:spPr>
          <a:xfrm>
            <a:off x="5742432" y="2542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42432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36208" y="252374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Deux points clés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3035808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reversed()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: on part de la dernière invocation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copier dans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: la lambda capture une variable effectivement finale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createProxy et le cache</a:t>
            </a:r>
            <a:endParaRPr lang="en-US" sz="2800" dirty="0"/>
          </a:p>
        </p:txBody>
      </p:sp>
      <p:sp>
        <p:nvSpPr>
          <p:cNvPr id="3" name="code-bg"/>
          <p:cNvSpPr/>
          <p:nvPr/>
        </p:nvSpPr>
        <p:spPr>
          <a:xfrm>
            <a:off x="457200" y="109728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594360" y="1188720"/>
            <a:ext cx="4663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Map&lt;Method, Invocation&gt; cache = new HashMap&lt;&gt;();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Proxy.newProxyInstance(loader,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Class&lt;?&gt;[] { type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(proxy, method, args) -&gt; 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.computeIfAbsent(method,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 -&gt; getInvocation(findInterceptors(m)))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.proceed(delegate, method, args));</a:t>
            </a:r>
            <a:endParaRPr lang="en-US" sz="1000" dirty="0"/>
          </a:p>
        </p:txBody>
      </p:sp>
      <p:sp>
        <p:nvSpPr>
          <p:cNvPr id="5" name="card"/>
          <p:cNvSpPr/>
          <p:nvPr/>
        </p:nvSpPr>
        <p:spPr>
          <a:xfrm>
            <a:off x="5577840" y="1097280"/>
            <a:ext cx="31089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"/>
          <p:cNvSpPr/>
          <p:nvPr/>
        </p:nvSpPr>
        <p:spPr>
          <a:xfrm>
            <a:off x="5742432" y="12618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42432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36208" y="12435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delegate, pas proxy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755648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On appelle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proceed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sur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delegate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. Sur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: récursion infinie.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57200" y="3429000"/>
            <a:ext cx="40233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"/>
          <p:cNvSpPr/>
          <p:nvPr/>
        </p:nvSpPr>
        <p:spPr>
          <a:xfrm>
            <a:off x="621792" y="3593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5753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Pourquoi un cache 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87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Évite de recalculer la chaîne à chaque appel.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663440" y="3429000"/>
            <a:ext cx="40233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4828032" y="3593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8032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21808" y="35753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Quand l'invalider 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087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Dans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addInterceptor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cache.clear()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1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Check-list avant le TP</a:t>
            </a:r>
            <a:endParaRPr lang="en-US" sz="2800" dirty="0"/>
          </a:p>
        </p:txBody>
      </p:sp>
      <p:sp>
        <p:nvSpPr>
          <p:cNvPr id="3" name="check"/>
          <p:cNvSpPr/>
          <p:nvPr/>
        </p:nvSpPr>
        <p:spPr>
          <a:xfrm>
            <a:off x="457200" y="1152144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52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09728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Annotations en @Retention(RUNTIME)</a:t>
            </a:r>
            <a:endParaRPr lang="en-US" sz="1300" dirty="0"/>
          </a:p>
        </p:txBody>
      </p:sp>
      <p:sp>
        <p:nvSpPr>
          <p:cNvPr id="6" name="check"/>
          <p:cNvSpPr/>
          <p:nvPr/>
        </p:nvSpPr>
        <p:spPr>
          <a:xfrm>
            <a:off x="457200" y="1581912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81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152704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annotationType() comme clé</a:t>
            </a:r>
            <a:endParaRPr lang="en-US" sz="1300" dirty="0"/>
          </a:p>
        </p:txBody>
      </p:sp>
      <p:sp>
        <p:nvSpPr>
          <p:cNvPr id="9" name="check"/>
          <p:cNvSpPr/>
          <p:nvPr/>
        </p:nvSpPr>
        <p:spPr>
          <a:xfrm>
            <a:off x="457200" y="2011680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1956816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Interface + méthode + paramètres</a:t>
            </a:r>
            <a:endParaRPr lang="en-US" sz="1300" dirty="0"/>
          </a:p>
        </p:txBody>
      </p:sp>
      <p:sp>
        <p:nvSpPr>
          <p:cNvPr id="12" name="check"/>
          <p:cNvSpPr/>
          <p:nvPr/>
        </p:nvSpPr>
        <p:spPr>
          <a:xfrm>
            <a:off x="457200" y="244144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386584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reversed() + variable next</a:t>
            </a:r>
            <a:endParaRPr lang="en-US" sz="1300" dirty="0"/>
          </a:p>
        </p:txBody>
      </p:sp>
      <p:sp>
        <p:nvSpPr>
          <p:cNvPr id="15" name="check"/>
          <p:cNvSpPr/>
          <p:nvPr/>
        </p:nvSpPr>
        <p:spPr>
          <a:xfrm>
            <a:off x="457200" y="2871216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2816352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proceed sur delegate</a:t>
            </a:r>
            <a:endParaRPr lang="en-US" sz="1300" dirty="0"/>
          </a:p>
        </p:txBody>
      </p:sp>
      <p:sp>
        <p:nvSpPr>
          <p:cNvPr id="18" name="check"/>
          <p:cNvSpPr/>
          <p:nvPr/>
        </p:nvSpPr>
        <p:spPr>
          <a:xfrm>
            <a:off x="457200" y="3300984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324612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cache.clear() à chaque ajout</a:t>
            </a:r>
            <a:endParaRPr lang="en-US" sz="1300" dirty="0"/>
          </a:p>
        </p:txBody>
      </p:sp>
      <p:sp>
        <p:nvSpPr>
          <p:cNvPr id="21" name="check"/>
          <p:cNvSpPr/>
          <p:nvPr/>
        </p:nvSpPr>
        <p:spPr>
          <a:xfrm>
            <a:off x="457200" y="3730752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367588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requireNonNull sur les paramètres</a:t>
            </a:r>
            <a:endParaRPr lang="en-US" sz="1300" dirty="0"/>
          </a:p>
        </p:txBody>
      </p:sp>
      <p:sp>
        <p:nvSpPr>
          <p:cNvPr id="24" name="order"/>
          <p:cNvSpPr/>
          <p:nvPr/>
        </p:nvSpPr>
        <p:spPr>
          <a:xfrm>
            <a:off x="4937760" y="1097280"/>
            <a:ext cx="37490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66360" y="1234440"/>
            <a:ext cx="32918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Ordre d'appel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ordre de déclaration des annotations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même annotation : ordre d'ajout dans le registry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vaut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pour une méthode sans paramètre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Utils.invokeMethod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relance la vraie cause de l'exception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C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ceptor Revision">
  <a:themeElements>
    <a:clrScheme name="Interceptor Revision">
      <a:dk1>
        <a:srgbClr val="231A29"/>
      </a:dk1>
      <a:lt1>
        <a:srgbClr val="FFFFFF"/>
      </a:lt1>
      <a:dk2>
        <a:srgbClr val="3A1F4B"/>
      </a:dk2>
      <a:lt2>
        <a:srgbClr val="F1EBF5"/>
      </a:lt2>
      <a:accent1>
        <a:srgbClr val="E8A33D"/>
      </a:accent1>
      <a:accent2>
        <a:srgbClr val="8E5CA8"/>
      </a:accent2>
      <a:accent3>
        <a:srgbClr val="5B3A6E"/>
      </a:accent3>
      <a:accent4>
        <a:srgbClr val="F2C46D"/>
      </a:accent4>
      <a:accent5>
        <a:srgbClr val="6FA8A0"/>
      </a:accent5>
      <a:accent6>
        <a:srgbClr val="D9634C"/>
      </a:accent6>
      <a:hlink>
        <a:srgbClr val="8E5CA8"/>
      </a:hlink>
      <a:folHlink>
        <a:srgbClr val="5B3A6E"/>
      </a:folHlink>
    </a:clrScheme>
    <a:fontScheme name="Interceptor Revi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InterceptorRegistry · fiche de révision</dc:title>
  <dc:subject>PptxGenJS Presentation</dc:subject>
  <dc:creator>PptxGenJS</dc:creator>
  <cp:lastModifiedBy>PptxGenJS</cp:lastModifiedBy>
  <cp:revision>1</cp:revision>
  <dcterms:created xsi:type="dcterms:W3CDTF">2026-10-09T19:01:27Z</dcterms:created>
  <dcterms:modified xsi:type="dcterms:W3CDTF">2026-10-09T19:01:27Z</dcterms:modified>
</cp:coreProperties>
</file>